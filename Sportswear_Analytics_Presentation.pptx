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3E"/>
                </a:solidFill>
                <a:latin typeface="Arial"/>
              </a:rPr>
              <a:t>Brand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1A4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741-4A35-B959-8050F3F5DB79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41-4A35-B959-8050F3F5DB7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Nike</c:v>
                </c:pt>
                <c:pt idx="1">
                  <c:v>Adidas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3030</c:v>
                </c:pt>
                <c:pt idx="1">
                  <c:v>3030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41-4A35-B959-8050F3F5DB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3E"/>
                </a:solidFill>
                <a:latin typeface="Arial"/>
              </a:rPr>
              <a:t>Avg Sale Price by Brand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 Price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5F9-43D9-A148-CC82EC020B3A}"/>
              </c:ext>
            </c:extLst>
          </c:dPt>
          <c:dPt>
            <c:idx val="1"/>
            <c:invertIfNegative val="0"/>
            <c:bubble3D val="0"/>
            <c:spPr>
              <a:solidFill>
                <a:srgbClr val="1A4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F9-43D9-A148-CC82EC020B3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Adidas</c:v>
                </c:pt>
                <c:pt idx="1">
                  <c:v>Nike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5F9-43D9-A148-CC82EC020B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3E"/>
                </a:solidFill>
                <a:latin typeface="Arial"/>
              </a:rPr>
              <a:t>Sentiment Distribution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91C-4956-8EDA-8734A5F43047}"/>
              </c:ext>
            </c:extLst>
          </c:dPt>
          <c:dPt>
            <c:idx val="1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1C-4956-8EDA-8734A5F43047}"/>
              </c:ext>
            </c:extLst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91C-4956-8EDA-8734A5F4304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91C-4956-8EDA-8734A5F4304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91C-4956-8EDA-8734A5F4304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91C-4956-8EDA-8734A5F4304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22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91C-4956-8EDA-8734A5F43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3E"/>
                </a:solidFill>
                <a:latin typeface="Arial"/>
              </a:rPr>
              <a:t>Product Portfolio by Strategy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Strategy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7A-41EF-ACB8-BEBC7DD822E1}"/>
              </c:ext>
            </c:extLst>
          </c:dPt>
          <c:dPt>
            <c:idx val="1"/>
            <c:bubble3D val="0"/>
            <c:spPr>
              <a:solidFill>
                <a:srgbClr val="1A4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7A-41EF-ACB8-BEBC7DD822E1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7A-41EF-ACB8-BEBC7DD822E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D7A-41EF-ACB8-BEBC7DD822E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7A-41EF-ACB8-BEBC7DD822E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7A-41EF-ACB8-BEBC7DD822E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Scale</c:v>
                </c:pt>
                <c:pt idx="1">
                  <c:v>Fix</c:v>
                </c:pt>
                <c:pt idx="2">
                  <c:v>Drop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45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7A-41EF-ACB8-BEBC7DD822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310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A4A8A">
              <a:alpha val="50000"/>
            </a:srgbClr>
          </a:solidFill>
          <a:ln w="12700">
            <a:solidFill>
              <a:srgbClr val="1A4A8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82880"/>
            <a:ext cx="2011680" cy="201168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943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Consumer Trends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Product Strategy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India's Sportswear Market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32004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Business Intelligence &amp; Sentiment Analytics 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3429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Subash R - 12500554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3703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MGNM523 — Business Applications of Artificial Intelligence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977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Arun Khatri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4251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Analysis Matter?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sportswear market is growing — but which products win, and why?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77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Product 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8105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and bottom performing SKUs by rating and engagement volume.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77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Customer Sentiment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8105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what customers feel about products using NLP-driven text analysis.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3977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Pricing 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3649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brand-level pricing and discount patterns to guide margin decisions.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977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2608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Opportunities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3649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high-potential products and categories for growth investment.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617720"/>
            <a:ext cx="64008" cy="34747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Business Goal: Enable data-driven decisions on product scaling, discontinuation, pricing, and customer engagement strategy.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Tools Used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curated e-commerce datasets powering this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64008" cy="1645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Adidas vs Nike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76479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listings with brand, listing price, sale price, and discount data — enables comparative pricing and brand strategy analysis.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834640"/>
            <a:ext cx="347472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834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· Brand · Discount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25880"/>
            <a:ext cx="64008" cy="1645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Nike Product Review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76479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names, ratings, review counts, category tags, and descriptions — enables sentiment, engagement, and performance scoring.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64608" y="2834640"/>
            <a:ext cx="347472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834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· Sentiment · Engagement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246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72768" y="3611880"/>
            <a:ext cx="1097280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72768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79776" y="3611880"/>
            <a:ext cx="10972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79776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86784" y="3611880"/>
            <a:ext cx="10972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86784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93792" y="361188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93792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3611880"/>
            <a:ext cx="10972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WordCloud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07808" y="3611880"/>
            <a:ext cx="1097280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07808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343400"/>
            <a:ext cx="64008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Both datasets combined enable a 360° view of market performance — from pricing and brand competitiveness through to voice-of-customer sentiment and product engagement depth.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PERFORMANCE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Performance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positioning, pricing landscape and category engagement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80160"/>
          <a:ext cx="38404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480560" y="1280160"/>
          <a:ext cx="42976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611880"/>
            <a:ext cx="8412480" cy="3657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36118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Nike maintains premium positioning with ~46% higher average sale prices vs Adidas.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65760" y="4041648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0416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Mid-premium pricing ($50–$100) dominates both brands, appealing to performance-conscious consumers.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4471416"/>
            <a:ext cx="8412480" cy="3657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447141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Training &amp; running categories drive strongest review engagement and ratings across the portfolio.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say — decoded through NLP and keyword frequency analysis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34440"/>
          <a:ext cx="3474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114800" y="1234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Consumer Keywords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32120" y="1645920"/>
            <a:ext cx="2743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32120" y="1645920"/>
            <a:ext cx="252374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600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0" y="1929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32120" y="1975104"/>
            <a:ext cx="2743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32120" y="1975104"/>
            <a:ext cx="2331720" cy="1828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0" y="1929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114800" y="2258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32120" y="2304288"/>
            <a:ext cx="2743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32120" y="2304288"/>
            <a:ext cx="2139696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21040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11480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Breathable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32120" y="2633472"/>
            <a:ext cx="2743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32120" y="2633472"/>
            <a:ext cx="1947672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21040" y="2587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0" y="2916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32120" y="2962656"/>
            <a:ext cx="2743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532120" y="2962656"/>
            <a:ext cx="17830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21040" y="2916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11480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32120" y="3291840"/>
            <a:ext cx="2743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32120" y="3291840"/>
            <a:ext cx="1591056" cy="1828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2104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65760" y="3639312"/>
            <a:ext cx="8412480" cy="117043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65760" y="3639312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3685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 Summary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6928" y="3950208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consistently prioritise comfort, lightweight construction, breathability and athletic performance as primary purchase drivers. 68% of product descriptions carry positive sentiment. Premium products sustain strong satisfaction, but value perception and pricing sensitivity remain key moderators of long-term loyalty.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stars, risks, and underperformers across the portfolio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97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2697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5 Products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Nike Air Max 270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75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Nike React Infinity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597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Nike Free RN 5.0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437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Nike Pegasus 38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27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Nike Zoom Fly 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325112"/>
            <a:ext cx="269748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25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Score: weighted 70% rating + 30% normalised reviews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27832" y="1261872"/>
            <a:ext cx="2697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261872"/>
            <a:ext cx="269748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Products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64992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Above-avg price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2075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Negative sentiment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4992" y="24597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Hidden dissatisfaction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28437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High return risk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64992" y="3227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Brand equity drag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27832" y="4325112"/>
            <a:ext cx="2697480" cy="22860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4325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high price + negative sentiment polarity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89904" y="1261872"/>
            <a:ext cx="2697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1261872"/>
            <a:ext cx="26974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Bottom 5 Products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27064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Low avg rating (&lt;3.0)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27064" y="2075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Minimal review count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27064" y="24597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Weak engagement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27064" y="28437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Limited awareness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27064" y="3227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Portfolio inefficiency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9904" y="4325112"/>
            <a:ext cx="2697480" cy="22860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1344" y="4325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composite success scores in the portfolio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663440"/>
            <a:ext cx="64008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High-potential products (rating &gt; 4.0 + positive sentiment) are the most investable segment — ideal for scale-up, paid amplification, and cross-sell bundling.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Trend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price, rating, sentiment and engagement inter-relate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25880" y="1609344"/>
            <a:ext cx="96012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60934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0" y="1609344"/>
            <a:ext cx="96012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60934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609344"/>
            <a:ext cx="96012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60934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06240" y="1609344"/>
            <a:ext cx="96012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60934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1956816"/>
            <a:ext cx="960120" cy="44805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56816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25880" y="1956816"/>
            <a:ext cx="960120" cy="448056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1956816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1956816"/>
            <a:ext cx="96012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1956816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1956816"/>
            <a:ext cx="96012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956816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1956816"/>
            <a:ext cx="96012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1956816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432304"/>
            <a:ext cx="960120" cy="44805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43230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25880" y="2432304"/>
            <a:ext cx="96012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5880" y="243230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2432304"/>
            <a:ext cx="960120" cy="448056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243230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2432304"/>
            <a:ext cx="960120" cy="448056"/>
          </a:xfrm>
          <a:prstGeom prst="rect">
            <a:avLst/>
          </a:prstGeom>
          <a:solidFill>
            <a:srgbClr val="38BD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243230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2432304"/>
            <a:ext cx="960120" cy="448056"/>
          </a:xfrm>
          <a:prstGeom prst="rect">
            <a:avLst/>
          </a:prstGeom>
          <a:solidFill>
            <a:srgbClr val="BAE6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243230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907792"/>
            <a:ext cx="960120" cy="44805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907792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325880" y="2907792"/>
            <a:ext cx="96012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2907792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0" y="2907792"/>
            <a:ext cx="960120" cy="448056"/>
          </a:xfrm>
          <a:prstGeom prst="rect">
            <a:avLst/>
          </a:prstGeom>
          <a:solidFill>
            <a:srgbClr val="38BD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2907792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46120" y="2907792"/>
            <a:ext cx="960120" cy="448056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2907792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06240" y="2907792"/>
            <a:ext cx="960120" cy="448056"/>
          </a:xfrm>
          <a:prstGeom prst="rect">
            <a:avLst/>
          </a:prstGeom>
          <a:solidFill>
            <a:srgbClr val="BAE6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0" y="2907792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383280"/>
            <a:ext cx="960120" cy="44805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383280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325880" y="3383280"/>
            <a:ext cx="96012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25880" y="3383280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0" y="3383280"/>
            <a:ext cx="960120" cy="448056"/>
          </a:xfrm>
          <a:prstGeom prst="rect">
            <a:avLst/>
          </a:prstGeom>
          <a:solidFill>
            <a:srgbClr val="BAE6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0" y="3383280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46120" y="3383280"/>
            <a:ext cx="960120" cy="448056"/>
          </a:xfrm>
          <a:prstGeom prst="rect">
            <a:avLst/>
          </a:prstGeom>
          <a:solidFill>
            <a:srgbClr val="BAE6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46120" y="3383280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06240" y="3383280"/>
            <a:ext cx="960120" cy="448056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0" y="3383280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1208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Statistical Findings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212080" y="1664208"/>
            <a:ext cx="3566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212080" y="1664208"/>
            <a:ext cx="9601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2080" y="16642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0.08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263640" y="1737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→ Rating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does NOT guarantee satisfaction.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212080" y="2779776"/>
            <a:ext cx="3566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212080" y="2779776"/>
            <a:ext cx="9601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12080" y="2779776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0.42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263640" y="2852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→ Reviews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63640" y="31272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Better-rated products attract significantly more engagement.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212080" y="3895344"/>
            <a:ext cx="3566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212080" y="3895344"/>
            <a:ext cx="9601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12080" y="389534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0.38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263640" y="39684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→ Rating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263640" y="42428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product language correlates with higher ratings.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5760" y="4663440"/>
            <a:ext cx="64008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Value-for-money products drive disproportionate engagement. Review volume — not price — is the strongest predictor of product success.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CLASSIFICATION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/ Fix / Drop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portfolio segmentation for business decision-making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80160"/>
          <a:ext cx="3657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343400" y="1261872"/>
            <a:ext cx="4434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43400" y="1261872"/>
            <a:ext cx="82296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12618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43400" y="176479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257800" y="1353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Rating ≥ 4.0  +  Positive Sentiment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57800" y="16459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marketing spend, expand inventory, prioritise in search advertising, bundle with Fix products.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3400" y="2505456"/>
            <a:ext cx="4434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2505456"/>
            <a:ext cx="822960" cy="10972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43400" y="250545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43400" y="300837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257800" y="25968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Rating 3.0 – 3.9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257800" y="28895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product descriptions, address quality feedback, re-evaluate pricing tier, A/B test new positioning.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43400" y="3749040"/>
            <a:ext cx="4434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43400" y="3749040"/>
            <a:ext cx="82296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43400" y="3749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343400" y="42519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257800" y="3840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Rating &lt; 3.0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257800" y="413308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of active listings, liquidate existing inventory, reallocate shelf space to Scale tier.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4663440"/>
            <a:ext cx="64008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45% of products sit in the Fix tier — a significant opportunity: with targeted quality improvement and pricing adjustments, many can be promoted to Scale.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Four-pillar action framework for Nike India's sportswear portfolio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114800" cy="1572768"/>
          </a:xfrm>
          <a:prstGeom prst="rect">
            <a:avLst/>
          </a:prstGeom>
          <a:solidFill>
            <a:srgbClr val="0D1B3E">
              <a:alpha val="8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81328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81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Product Strategy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Scale 42% of portfolio — high rating + positive sentiment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5856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Fix mid-tier products with description revisions and pricing tests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62432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Drop bottom 13% to improve brand rating and free inventory resources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481328"/>
            <a:ext cx="4114800" cy="1572768"/>
          </a:xfrm>
          <a:prstGeom prst="rect">
            <a:avLst/>
          </a:prstGeom>
          <a:solidFill>
            <a:srgbClr val="0D1B3E">
              <a:alpha val="80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481328"/>
            <a:ext cx="41148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481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Pricing Strategy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9280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Avoid premium pricing without quality proof points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25856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Mid-premium ($50–$90) pricing optimises volume and satisfaction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62432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Reduce discounting for Scale products to protect gross margin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4114800" cy="1572768"/>
          </a:xfrm>
          <a:prstGeom prst="rect">
            <a:avLst/>
          </a:prstGeom>
          <a:solidFill>
            <a:srgbClr val="0D1B3E">
              <a:alpha val="80000"/>
            </a:srgbClr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00400"/>
            <a:ext cx="41148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Customer Strategy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61188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Amplify comfort, lightweight and breathability messaging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97764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Respond to negative reviews on Risk products within 48 hrs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Use sentiment insights to guide product description rewrites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200400"/>
            <a:ext cx="4114800" cy="1572768"/>
          </a:xfrm>
          <a:prstGeom prst="rect">
            <a:avLst/>
          </a:prstGeom>
          <a:solidFill>
            <a:srgbClr val="0D1B3E">
              <a:alpha val="80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200400"/>
            <a:ext cx="41148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Market Positioning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61188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Invest in Top 5 future products identified by success score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97764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Expand training and running categories — highest rating tiers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434340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Position Nike as performance-first, not premium-price-first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57200"/>
            <a:ext cx="1828800" cy="18288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Business Impact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965960" cy="7772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Sentiment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965960" cy="7772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Price Premium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65960" cy="7772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r=0.42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Rating–Review Correlation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12280" y="1188720"/>
            <a:ext cx="1965960" cy="7772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Ready to Scale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4871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Premium pricing alone does not guarantee customer satisfaction (r ≈ 0.08).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8712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Comfort, lightweight design and breathability are the top purchase drivers.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2552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42% of products qualify for Scale — a strong foundation for growth.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6393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 5 future products identified via composite success scoring.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24871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Integrate live review text for richer NLP insights.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28712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Expand analysis to cover Puma, Reebok and emerging Indian brands.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32552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a real-time dashboard with dynamic success scoring.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36393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Apply ML classification for automated Scale/Fix/Drop tagging.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133088"/>
            <a:ext cx="8412480" cy="640080"/>
          </a:xfrm>
          <a:prstGeom prst="rect">
            <a:avLst/>
          </a:prstGeom>
          <a:solidFill>
            <a:srgbClr val="0D1B3E">
              <a:alpha val="70000"/>
            </a:srgbClr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33088"/>
            <a:ext cx="8229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 Note:  Sentiment analysis is derived from product descriptions rather than raw customer reviews. This is clearly acknowledged — the business reasoning and strategic conclusions remain valid.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1124</Words>
  <Application>Microsoft Office PowerPoint</Application>
  <PresentationFormat>On-screen Show (16:9)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Consumer Trends &amp; Product Strategy in India's Sportswear Market</dc:title>
  <dc:subject>PptxGenJS Presentation</dc:subject>
  <dc:creator>PptxGenJS</dc:creator>
  <cp:lastModifiedBy>Subash R</cp:lastModifiedBy>
  <cp:revision>2</cp:revision>
  <dcterms:created xsi:type="dcterms:W3CDTF">2026-05-16T06:10:51Z</dcterms:created>
  <dcterms:modified xsi:type="dcterms:W3CDTF">2026-05-16T06:38:25Z</dcterms:modified>
</cp:coreProperties>
</file>