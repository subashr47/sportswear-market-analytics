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166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1A4A8A">
              <a:alpha val="50000"/>
            </a:srgbClr>
          </a:solidFill>
          <a:ln w="12700">
            <a:solidFill>
              <a:srgbClr val="1A4A8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182880"/>
            <a:ext cx="2011680" cy="201168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Consumer Trends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Product Strategy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02996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India's Sportswear Market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32004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889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Business Intelligence &amp; Sentiment Analytics Approach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01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34015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Subash R - 12500554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75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36758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MGNM523 — Business Applications of Artificial Intelligence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950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39502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Arun Khatri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224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42245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Analysis Matter?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sportswear market is growing — but which products win, and why?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04164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53312"/>
            <a:ext cx="64008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447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Product 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810512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and bottom performing SKUs by rating and engagement volume.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1728" y="1353312"/>
            <a:ext cx="404164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353312"/>
            <a:ext cx="64008" cy="138988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4447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Customer Sentiment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82896" y="1810512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what customers feel about products using NLP-driven text analysis.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4164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64008" cy="13898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175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Pricing Strategy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383280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brand-level pricing and discount patterns to guide margin decisions.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1728" y="2926080"/>
            <a:ext cx="4041648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2926080"/>
            <a:ext cx="64008" cy="13898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30175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Opportunities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82896" y="3383280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high-potential products and categories for growth investment.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617720"/>
            <a:ext cx="64008" cy="36576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4617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Business Goal: Enable data-driven decisions on product scaling, discontinuation, pricing, and customer engagement strategy.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Tools Used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curated e-commerce datasets powering this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04164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64008" cy="18288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Adidas vs Nike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737360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listings with brand, listing price, sale price, and discount data — enables comparative pricing and brand strategy analysis.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999232"/>
            <a:ext cx="3547872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999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· Brand · Discount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81728" y="1298448"/>
            <a:ext cx="404164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298448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Nike Product Review Dataset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82896" y="1737360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names, ratings, review counts, category tags, and descriptions — enables sentiment, engagement, and performance scoring.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82896" y="2999232"/>
            <a:ext cx="3547872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299923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· Sentiment · Engagement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33649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111556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70332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72768" y="3703320"/>
            <a:ext cx="1115568" cy="502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72768" y="370332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79776" y="3703320"/>
            <a:ext cx="111556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79776" y="370332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86784" y="3703320"/>
            <a:ext cx="1115568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86784" y="370332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93792" y="3703320"/>
            <a:ext cx="111556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93792" y="370332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3703320"/>
            <a:ext cx="1115568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370332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WordCloud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07808" y="3703320"/>
            <a:ext cx="1115568" cy="502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07808" y="370332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407408"/>
            <a:ext cx="841248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407408"/>
            <a:ext cx="64008" cy="36576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44074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Both datasets combined enable a 360° view — from pricing and brand competitiveness through to voice-of-customer sentiment and product engagement depth.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PERFORMANCE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Performance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positioning, pricing landscape and category engagement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16052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1298448"/>
            <a:ext cx="416052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/home/claude/charts/brand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9888"/>
            <a:ext cx="3977640" cy="2651760"/>
          </a:xfrm>
          <a:prstGeom prst="rect">
            <a:avLst/>
          </a:prstGeom>
        </p:spPr>
      </p:pic>
      <p:pic>
        <p:nvPicPr>
          <p:cNvPr id="9" name="Image 1" descr="/home/claude/charts/avg_p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89888"/>
            <a:ext cx="3977640" cy="2651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4315968"/>
            <a:ext cx="8412480" cy="256032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3159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Nike commands a ~46% price premium over Adidas, reflecting premium brand positioning.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5760" y="4590288"/>
            <a:ext cx="8412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45902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Mid-premium pricing ($50–$100) dominates both brands, targeting performance-conscious consumers.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solidFill>
            <a:srgbClr val="F0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4864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Training &amp; running categories drive the strongest review engagement and ratings across the portfolio.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CUSTOMER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say — decoded through NLP and keyword frequency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6576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06240" y="1280160"/>
            <a:ext cx="45720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/home/claude/charts/sentiment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3474720" cy="2606040"/>
          </a:xfrm>
          <a:prstGeom prst="rect">
            <a:avLst/>
          </a:prstGeom>
        </p:spPr>
      </p:pic>
      <p:pic>
        <p:nvPicPr>
          <p:cNvPr id="9" name="Image 1" descr="/home/claude/charts/keyw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371600"/>
            <a:ext cx="4389120" cy="2606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4169664"/>
            <a:ext cx="8412480" cy="804672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4169664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" y="42062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Customer Summary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66928" y="4480560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consistently prioritise comfort, lightweight construction, breathability and athletic performance as primary purchase drivers. 68% of descriptions carry positive sentiment. Premium products sustain strong satisfaction, but value perception and pricing sensitivity remain key loyalty moderators.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Product Keywords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keyword frequency analysis across all product descriptions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charts/word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8138160" cy="3063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4663440"/>
            <a:ext cx="64008" cy="36576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4663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Comfort, lightweight design and breathability dominate — functional performance attributes outweigh aesthetics in driving positive consumer response.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Intelligence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stars, risks, and underperformers across the portfolio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272491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61872"/>
            <a:ext cx="2724912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6187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TOP 5 PRODUCTS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1783080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719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Air Max 270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2167128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React Infinity Run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2551176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24871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Free RN 5.0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293522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28712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Pegasus 38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319272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32552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Zoom Fly 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" y="4498848"/>
            <a:ext cx="1463040" cy="201168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498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SCALE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8912" y="4718304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Score = 70% Rating + 30% Normalised Reviews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09544" y="1261872"/>
            <a:ext cx="272491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9544" y="1261872"/>
            <a:ext cx="2724912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0984" y="126187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PRODUCTS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178308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1719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price point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216712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11296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sentiment polarity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255117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11296" y="24871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customer dissatisfaction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293522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11296" y="28712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return risk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37560" y="331927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11296" y="32552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equity drag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00984" y="4498848"/>
            <a:ext cx="1463040" cy="201168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00984" y="4498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FIX / REVIEW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00984" y="4718304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Price &gt; Avg  AND  Sentiment Score &lt; 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071616" y="1261872"/>
            <a:ext cx="272491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71616" y="1261872"/>
            <a:ext cx="2724912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126187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BOTTOM 5 PRODUCTS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99632" y="17830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3368" y="1719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&lt; 3.0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99632" y="21671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2103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review engagement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99632" y="255117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3368" y="24871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consumer awareness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99632" y="293522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8712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success score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99632" y="33192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73368" y="32552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inefficiency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63056" y="4498848"/>
            <a:ext cx="1463040" cy="20116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63056" y="44988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DROP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63056" y="4718304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composite success scores across portfolio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5760" y="4956048"/>
            <a:ext cx="841248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4956048"/>
            <a:ext cx="64008" cy="36576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" y="49560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High-potential products (Rating &gt; 4.0 + positive sentiment) are ideal for scale-up, paid amplification, and cross-sell bundling.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Trend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price, rating, sentiment and engagement inter-relate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2976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261872"/>
            <a:ext cx="39319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/home/claude/charts/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35024"/>
            <a:ext cx="4151376" cy="2871216"/>
          </a:xfrm>
          <a:prstGeom prst="rect">
            <a:avLst/>
          </a:prstGeom>
        </p:spPr>
      </p:pic>
      <p:pic>
        <p:nvPicPr>
          <p:cNvPr id="9" name="Image 1" descr="/home/claude/charts/scatter_price_ra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335024"/>
            <a:ext cx="3785616" cy="287121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4407408"/>
            <a:ext cx="2724912" cy="530352"/>
          </a:xfrm>
          <a:prstGeom prst="rect">
            <a:avLst/>
          </a:prstGeom>
          <a:solidFill>
            <a:srgbClr val="F0F9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440740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0.08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25880" y="4434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→ Rating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325880" y="46451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does NOT guarantee satisfaction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227832" y="4407408"/>
            <a:ext cx="2724912" cy="530352"/>
          </a:xfrm>
          <a:prstGeom prst="rect">
            <a:avLst/>
          </a:prstGeom>
          <a:solidFill>
            <a:srgbClr val="F0F9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27832" y="440740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187952" y="4434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→ Reviews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187952" y="46451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Better-rated products attract far more engagement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089904" y="4407408"/>
            <a:ext cx="2724912" cy="530352"/>
          </a:xfrm>
          <a:prstGeom prst="rect">
            <a:avLst/>
          </a:prstGeom>
          <a:solidFill>
            <a:srgbClr val="F0F9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89904" y="440740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0.38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050024" y="4434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→ Rating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050024" y="46451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language correlates with higher ratings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CLASSIFICATION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/ Fix / Drop Framework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portfolio segmentation for business decision-making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34747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charts/scale_fix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329184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023360" y="1261872"/>
            <a:ext cx="47548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23360" y="1261872"/>
            <a:ext cx="82296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3360" y="12618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23360" y="17190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937760" y="1335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Rating ≥ 4.0  +  Positive Sentiment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937760" y="16093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marketing spend, expand inventory, prioritise in search, bundle with Fix tier.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023360" y="2286000"/>
            <a:ext cx="47548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023360" y="2286000"/>
            <a:ext cx="82296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0" y="2286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023360" y="2743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937760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Rating 3.0 – 3.9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37760" y="26334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descriptions, address quality feedback, re-evaluate pricing, A/B test positioning.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023360" y="3310128"/>
            <a:ext cx="47548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023360" y="3310128"/>
            <a:ext cx="82296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23360" y="33101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023360" y="37673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937760" y="3383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Rating &lt; 3.0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937760" y="3657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 listings, liquidate inventory, reallocate resources to Scale-tier products.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65760" y="4370832"/>
            <a:ext cx="841248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4370832"/>
            <a:ext cx="64008" cy="36576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0352" y="43708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45% of products sit in the Fix tier — targeted quality improvement and pricing adjustments could promote many into the Scale category.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Four-pillar action framework for Nike India's sportswear portfolio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463040"/>
            <a:ext cx="4133088" cy="1609344"/>
          </a:xfrm>
          <a:prstGeom prst="rect">
            <a:avLst/>
          </a:prstGeom>
          <a:solidFill>
            <a:srgbClr val="0D1B3E">
              <a:alpha val="80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463040"/>
            <a:ext cx="4133088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Product Strategy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1883664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Scale 42% — high rating + positive sentiment products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226771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Fix mid-tier SKUs via description revisions and pricing tests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265176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Drop bottom 13% to protect brand rating and free resources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90872" y="1463040"/>
            <a:ext cx="4133088" cy="1609344"/>
          </a:xfrm>
          <a:prstGeom prst="rect">
            <a:avLst/>
          </a:prstGeom>
          <a:solidFill>
            <a:srgbClr val="0D1B3E">
              <a:alpha val="80000"/>
            </a:srgbClr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1463040"/>
            <a:ext cx="4133088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Pricing Strategy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1883664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Avoid premium pricing without clear quality proof points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28032" y="226771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Mid-premium $50–$90 optimises volume and satisfaction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28032" y="265176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Reduce discounting on Scale products to protect gross margin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3218688"/>
            <a:ext cx="4133088" cy="1609344"/>
          </a:xfrm>
          <a:prstGeom prst="rect">
            <a:avLst/>
          </a:prstGeom>
          <a:solidFill>
            <a:srgbClr val="0D1B3E">
              <a:alpha val="80000"/>
            </a:srgbClr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3218688"/>
            <a:ext cx="4133088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18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Customer Strategy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" y="363931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Amplify comfort, lightweight and breathability messaging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402336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Respond to negative reviews on Risk products within 48 hrs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407408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Use sentiment data to guide product description rewrites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90872" y="3218688"/>
            <a:ext cx="4133088" cy="1609344"/>
          </a:xfrm>
          <a:prstGeom prst="rect">
            <a:avLst/>
          </a:prstGeom>
          <a:solidFill>
            <a:srgbClr val="0D1B3E">
              <a:alpha val="80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3218688"/>
            <a:ext cx="4133088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218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Market Positioning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28032" y="363931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Invest in Top 5 future products by composite success score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28032" y="402336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Expand training and running — highest-rated categories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28032" y="4407408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Position Nike as performance-first, not premium-price-first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457200"/>
            <a:ext cx="1828800" cy="18288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01168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Business Impact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965960" cy="804672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Sentiment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14600" y="1170432"/>
            <a:ext cx="1965960" cy="804672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704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627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Price Premium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170432"/>
            <a:ext cx="1965960" cy="804672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704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r=0.42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1627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Rating–Review Corr.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12280" y="1170432"/>
            <a:ext cx="1965960" cy="804672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1704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16276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B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Scale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2176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24871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Premium pricing alone does not drive satisfaction (r ≈ 0.08).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8529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Comfort, lightweight &amp; breathability are the top purchase drivers.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2186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42% of products qualify for Scale — a strong growth foundation.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5844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 5 future products identified via composite success scoring.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2176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24871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Integrate live review text for richer NLP insights.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28529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Expand to Puma, Reebok and emerging Indian brands.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32186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real-time dashboard with dynamic success scoring.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35844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Apply ML classification for automated Scale/Fix/Drop tagging.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solidFill>
            <a:srgbClr val="0D1B3E">
              <a:alpha val="70000"/>
            </a:srgbClr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14800"/>
            <a:ext cx="82296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Limitation: Sentiment analysis is derived from product descriptions rather than raw customer reviews. This is clearly acknowledged — the business reasoning and strategic conclusions remain fully valid.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1021</Words>
  <Application>Microsoft Office PowerPoint</Application>
  <PresentationFormat>On-screen Show (16:9)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Decoding Consumer Trends &amp; Product Strategy in India's Sportswear Market</dc:title>
  <dc:subject>PptxGenJS Presentation</dc:subject>
  <dc:creator>PptxGenJS</dc:creator>
  <cp:lastModifiedBy>Subash R</cp:lastModifiedBy>
  <cp:revision>2</cp:revision>
  <dcterms:created xsi:type="dcterms:W3CDTF">2026-05-16T10:46:10Z</dcterms:created>
  <dcterms:modified xsi:type="dcterms:W3CDTF">2026-05-16T10:49:52Z</dcterms:modified>
</cp:coreProperties>
</file>