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166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ubashR47/Sportswear-Market-Analytics.git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548640"/>
            <a:ext cx="2926080" cy="2926080"/>
          </a:xfrm>
          <a:prstGeom prst="ellipse">
            <a:avLst/>
          </a:prstGeom>
          <a:solidFill>
            <a:srgbClr val="1A4A8A">
              <a:alpha val="50000"/>
            </a:srgbClr>
          </a:solidFill>
          <a:ln w="12700">
            <a:solidFill>
              <a:srgbClr val="1A4A8A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-182880"/>
            <a:ext cx="2011680" cy="2011680"/>
          </a:xfrm>
          <a:prstGeom prst="ellipse">
            <a:avLst/>
          </a:prstGeom>
          <a:solidFill>
            <a:srgbClr val="0D9488">
              <a:alpha val="40000"/>
            </a:srgbClr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548640"/>
            <a:ext cx="8046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Consumer Trends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Product Strategy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02996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India's Sportswear Market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2624328"/>
            <a:ext cx="3200400" cy="3657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78892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0B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Data-Driven Business Intelligence &amp; Sentiment Analytics Approach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4015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920240" y="34015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Subash R - 12500554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367588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20240" y="36758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MGNM523 — Business Applications of Artificial Intelligence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950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920240" y="39502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Arun Khatri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422452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University: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20240" y="422452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Lovely Professional University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This Analysis Matter?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sportswear market is growing — but which products win, and why?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4041648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353312"/>
            <a:ext cx="64008" cy="13898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44475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Product Performance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1810512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top and bottom performing SKUs by rating and engagement volume.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81728" y="1353312"/>
            <a:ext cx="4041648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81728" y="1353312"/>
            <a:ext cx="64008" cy="1389888"/>
          </a:xfrm>
          <a:prstGeom prst="rect">
            <a:avLst/>
          </a:prstGeom>
          <a:solidFill>
            <a:srgbClr val="1A4A8A"/>
          </a:solidFill>
          <a:ln w="12700">
            <a:solidFill>
              <a:srgbClr val="1A4A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82896" y="144475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Customer Sentiment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82896" y="1810512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what customers feel about products using NLP-driven text analysis.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2926080"/>
            <a:ext cx="4041648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926080"/>
            <a:ext cx="64008" cy="138988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0175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 Pricing Strategy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" y="3383280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brand-level pricing and discount patterns to guide margin decisions.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81728" y="2926080"/>
            <a:ext cx="4041648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81728" y="2926080"/>
            <a:ext cx="64008" cy="138988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82896" y="30175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Future Opportunities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82896" y="3383280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Pinpoint high-potential products and categories for growth investment.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4617720"/>
            <a:ext cx="64008" cy="365760"/>
          </a:xfrm>
          <a:prstGeom prst="rect">
            <a:avLst/>
          </a:prstGeom>
          <a:solidFill>
            <a:srgbClr val="1A4A8A"/>
          </a:solidFill>
          <a:ln w="12700">
            <a:solidFill>
              <a:srgbClr val="1A4A8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46177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Business Goal: Enable data-driven decisions on product scaling, discontinuation, pricing, and customer engagement strategy.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METHODOLOGY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&amp; Tools Used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curated e-commerce datasets powering this analysis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298448"/>
            <a:ext cx="4041648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298448"/>
            <a:ext cx="64008" cy="1828800"/>
          </a:xfrm>
          <a:prstGeom prst="rect">
            <a:avLst/>
          </a:prstGeom>
          <a:solidFill>
            <a:srgbClr val="1A4A8A"/>
          </a:solidFill>
          <a:ln w="12700">
            <a:solidFill>
              <a:srgbClr val="1A4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3898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🗂  Adidas vs Nike Dataset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1737360"/>
            <a:ext cx="3639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listings with brand, listing price, sale price, and discount data — enables comparative pricing and brand strategy analysis.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2999232"/>
            <a:ext cx="3547872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999232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A4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· Brand · Discount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681728" y="1298448"/>
            <a:ext cx="4041648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81728" y="1298448"/>
            <a:ext cx="64008" cy="1828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82896" y="13898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🗂  Nike Product Review Dataset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82896" y="1737360"/>
            <a:ext cx="3639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names, ratings, review counts, category tags, and descriptions — enables sentiment, engagement, and performance scoring.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82896" y="2999232"/>
            <a:ext cx="3547872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82896" y="2999232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A4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· Sentiment · Engagement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65760" y="336499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Libraries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5760" y="3703320"/>
            <a:ext cx="1115568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370332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572768" y="3703320"/>
            <a:ext cx="1115568" cy="502920"/>
          </a:xfrm>
          <a:prstGeom prst="rect">
            <a:avLst/>
          </a:prstGeom>
          <a:solidFill>
            <a:srgbClr val="1A4A8A"/>
          </a:solidFill>
          <a:ln w="12700">
            <a:solidFill>
              <a:srgbClr val="1A4A8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572768" y="370332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79776" y="3703320"/>
            <a:ext cx="1115568" cy="5029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779776" y="370332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986784" y="3703320"/>
            <a:ext cx="1115568" cy="5029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986784" y="370332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Seaborn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193792" y="3703320"/>
            <a:ext cx="1115568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193792" y="370332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TextBlob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400800" y="3703320"/>
            <a:ext cx="1115568" cy="5029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400800" y="370332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WordCloud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607808" y="3703320"/>
            <a:ext cx="1115568" cy="502920"/>
          </a:xfrm>
          <a:prstGeom prst="rect">
            <a:avLst/>
          </a:prstGeom>
          <a:solidFill>
            <a:srgbClr val="1A4A8A"/>
          </a:solidFill>
          <a:ln w="12700">
            <a:solidFill>
              <a:srgbClr val="1A4A8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607808" y="370332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Jupyter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65760" y="4407408"/>
            <a:ext cx="8412480" cy="3657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4407408"/>
            <a:ext cx="64008" cy="365760"/>
          </a:xfrm>
          <a:prstGeom prst="rect">
            <a:avLst/>
          </a:prstGeom>
          <a:solidFill>
            <a:srgbClr val="1A4A8A"/>
          </a:solidFill>
          <a:ln w="12700">
            <a:solidFill>
              <a:srgbClr val="1A4A8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0352" y="440740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Both datasets combined enable a 360° view — from pricing and brand competitiveness through to voice-of-customer sentiment and product engagement depth.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PERFORMANCE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Performance Analysis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positioning, pricing landscape and category engagement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298448"/>
            <a:ext cx="416052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663440" y="1298448"/>
            <a:ext cx="416052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8" name="Image 0" descr="/home/claude/charts/brand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89888"/>
            <a:ext cx="3977640" cy="2651760"/>
          </a:xfrm>
          <a:prstGeom prst="rect">
            <a:avLst/>
          </a:prstGeom>
        </p:spPr>
      </p:pic>
      <p:pic>
        <p:nvPicPr>
          <p:cNvPr id="9" name="Image 1" descr="/home/claude/charts/avg_pr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389888"/>
            <a:ext cx="3977640" cy="26517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65760" y="4315968"/>
            <a:ext cx="8412480" cy="256032"/>
          </a:xfrm>
          <a:prstGeom prst="rect">
            <a:avLst/>
          </a:prstGeom>
          <a:solidFill>
            <a:srgbClr val="F0F9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02920" y="431596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 Nike commands a ~46% price premium over Adidas, reflecting premium brand positioning.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65760" y="4590288"/>
            <a:ext cx="84124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02920" y="459028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Mid-premium pricing ($50–$100) dominates both brands, targeting performance-conscious consumers.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365760" y="4864608"/>
            <a:ext cx="8412480" cy="256032"/>
          </a:xfrm>
          <a:prstGeom prst="rect">
            <a:avLst/>
          </a:prstGeom>
          <a:solidFill>
            <a:srgbClr val="F0F9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2920" y="4864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📂  Training &amp; running categories drive the strongest review engagement and ratings across the portfolio.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CUSTOMER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Sentiment Analysis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customers say — decoded through NLP and keyword frequency analysis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365760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206240" y="1280160"/>
            <a:ext cx="457200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8" name="Image 0" descr="/home/claude/charts/sentiment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3474720" cy="2606040"/>
          </a:xfrm>
          <a:prstGeom prst="rect">
            <a:avLst/>
          </a:prstGeom>
        </p:spPr>
      </p:pic>
      <p:pic>
        <p:nvPicPr>
          <p:cNvPr id="9" name="Image 1" descr="/home/claude/charts/keywo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1371600"/>
            <a:ext cx="4389120" cy="26060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65760" y="4169664"/>
            <a:ext cx="8412480" cy="804672"/>
          </a:xfrm>
          <a:prstGeom prst="rect">
            <a:avLst/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365760" y="4169664"/>
            <a:ext cx="64008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" y="420624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Customer Summary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566928" y="4480560"/>
            <a:ext cx="8092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consistently prioritise comfort, lightweight construction, breathability and athletic performance as primary purchase drivers. 68% of descriptions carry positive sentiment. Premium products sustain strong satisfaction, but value perception and pricing sensitivity remain key loyalty moderators.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ANALYSIS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Product Keywords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keyword frequency analysis across all product descriptions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841248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7" name="Image 0" descr="/home/claude/charts/word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71600"/>
            <a:ext cx="8138160" cy="3063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65760" y="4663440"/>
            <a:ext cx="8412480" cy="3657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" y="4663440"/>
            <a:ext cx="64008" cy="365760"/>
          </a:xfrm>
          <a:prstGeom prst="rect">
            <a:avLst/>
          </a:prstGeom>
          <a:solidFill>
            <a:srgbClr val="1A4A8A"/>
          </a:solidFill>
          <a:ln w="12700">
            <a:solidFill>
              <a:srgbClr val="1A4A8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0352" y="46634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Comfort, lightweight design and breathability dominate — functional performance attributes outweigh aesthetics in driving positive consumer response.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INTELLIGENCE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Intelligence Dashboard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Identifying stars, risks, and underperformers across the portfolio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47472" y="1261872"/>
            <a:ext cx="2724912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7472" y="1261872"/>
            <a:ext cx="2724912" cy="3657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1261872"/>
            <a:ext cx="257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TOP 5 PRODUCTS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5488" y="1783080"/>
            <a:ext cx="109728" cy="10972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171907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Nike Air Max 270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5488" y="2167128"/>
            <a:ext cx="109728" cy="10972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" y="210312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Nike React Infinity Run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5488" y="2551176"/>
            <a:ext cx="109728" cy="10972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248716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Nike Free RN 5.0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5488" y="2935224"/>
            <a:ext cx="109728" cy="10972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" y="2871216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Nike Pegasus 38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5488" y="3319272"/>
            <a:ext cx="109728" cy="10972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" y="325526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Nike Zoom Fly 4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38912" y="4498848"/>
            <a:ext cx="1463040" cy="201168"/>
          </a:xfrm>
          <a:prstGeom prst="rect">
            <a:avLst/>
          </a:prstGeom>
          <a:solidFill>
            <a:srgbClr val="16A34A">
              <a:alpha val="15000"/>
            </a:srgbClr>
          </a:solidFill>
          <a:ln w="12700">
            <a:solidFill>
              <a:srgbClr val="16A34A">
                <a:alpha val="4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8912" y="449884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SCALE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38912" y="4718304"/>
            <a:ext cx="2542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Score = 70% Rating + 30% Normalised Reviews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209544" y="1261872"/>
            <a:ext cx="2724912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09544" y="1261872"/>
            <a:ext cx="2724912" cy="3657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00984" y="1261872"/>
            <a:ext cx="257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RISK PRODUCTS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337560" y="1783080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511296" y="171907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Above-average price point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337560" y="2167128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11296" y="210312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sentiment polarity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337560" y="2551176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11296" y="248716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customer dissatisfaction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337560" y="2935224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11296" y="2871216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return risk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337560" y="3319272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511296" y="325526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equity drag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300984" y="4498848"/>
            <a:ext cx="1463040" cy="201168"/>
          </a:xfrm>
          <a:prstGeom prst="rect">
            <a:avLst/>
          </a:prstGeom>
          <a:solidFill>
            <a:srgbClr val="F97316">
              <a:alpha val="15000"/>
            </a:srgbClr>
          </a:solidFill>
          <a:ln w="1270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00984" y="449884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FIX / REVIEW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3300984" y="4718304"/>
            <a:ext cx="2542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Criteria: Price &gt; Avg  AND  Sentiment Score &lt; 0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6071616" y="1261872"/>
            <a:ext cx="2724912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071616" y="1261872"/>
            <a:ext cx="2724912" cy="3657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63056" y="1261872"/>
            <a:ext cx="257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  BOTTOM 5 PRODUCTS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199632" y="1783080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73368" y="171907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Rating &lt; 3.0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199632" y="2167128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73368" y="210312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review engagement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199632" y="255117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73368" y="248716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consumer awareness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199632" y="2935224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73368" y="2871216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success score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199632" y="3319272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73368" y="325526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inefficiency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163056" y="4498848"/>
            <a:ext cx="1463040" cy="201168"/>
          </a:xfrm>
          <a:prstGeom prst="rect">
            <a:avLst/>
          </a:prstGeom>
          <a:solidFill>
            <a:srgbClr val="EF4444">
              <a:alpha val="15000"/>
            </a:srgbClr>
          </a:solidFill>
          <a:ln w="1270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163056" y="449884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DROP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6163056" y="4718304"/>
            <a:ext cx="2542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composite success scores across portfolio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4956048"/>
            <a:ext cx="8412480" cy="3657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65760" y="4956048"/>
            <a:ext cx="64008" cy="365760"/>
          </a:xfrm>
          <a:prstGeom prst="rect">
            <a:avLst/>
          </a:prstGeom>
          <a:solidFill>
            <a:srgbClr val="1A4A8A"/>
          </a:solidFill>
          <a:ln w="12700">
            <a:solidFill>
              <a:srgbClr val="1A4A8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30352" y="495604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High-potential products (Rating &gt; 4.0 + positive sentiment) are ideal for scale-up, paid amplification, and cross-sell bundling.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ANALYSIS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&amp; Trend Analysis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price, rating, sentiment and engagement inter-relate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261872"/>
            <a:ext cx="4297680" cy="30175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261872"/>
            <a:ext cx="3931920" cy="30175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8" name="Image 0" descr="/home/claude/charts/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1335024"/>
            <a:ext cx="4151376" cy="2871216"/>
          </a:xfrm>
          <a:prstGeom prst="rect">
            <a:avLst/>
          </a:prstGeom>
        </p:spPr>
      </p:pic>
      <p:pic>
        <p:nvPicPr>
          <p:cNvPr id="9" name="Image 1" descr="/home/claude/charts/scatter_price_rat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1335024"/>
            <a:ext cx="3785616" cy="287121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65760" y="4407408"/>
            <a:ext cx="2724912" cy="530352"/>
          </a:xfrm>
          <a:prstGeom prst="rect">
            <a:avLst/>
          </a:prstGeom>
          <a:solidFill>
            <a:srgbClr val="F0F9FF"/>
          </a:solidFill>
          <a:ln w="10160">
            <a:solidFill>
              <a:srgbClr val="BFDBF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65760" y="4407408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4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≈ 0.08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325880" y="443484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→ Rating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325880" y="46451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pricing does NOT guarantee satisfaction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227832" y="4407408"/>
            <a:ext cx="2724912" cy="530352"/>
          </a:xfrm>
          <a:prstGeom prst="rect">
            <a:avLst/>
          </a:prstGeom>
          <a:solidFill>
            <a:srgbClr val="F0F9FF"/>
          </a:solidFill>
          <a:ln w="10160">
            <a:solidFill>
              <a:srgbClr val="BFDBF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227832" y="4407408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4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0.42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187952" y="443484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→ Reviews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187952" y="46451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Better-rated products attract far more engagement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6089904" y="4407408"/>
            <a:ext cx="2724912" cy="530352"/>
          </a:xfrm>
          <a:prstGeom prst="rect">
            <a:avLst/>
          </a:prstGeom>
          <a:solidFill>
            <a:srgbClr val="F0F9FF"/>
          </a:solidFill>
          <a:ln w="10160">
            <a:solidFill>
              <a:srgbClr val="BFDBFE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089904" y="4407408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4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0.38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7050024" y="443484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→ Rating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7050024" y="46451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language correlates with higher ratings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CLASSIFICATION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/ Fix / Drop Framework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portfolio segmentation for business decision-making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261872"/>
            <a:ext cx="3474720" cy="3063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7" name="Image 0" descr="/home/claude/charts/scale_fix_d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329184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023360" y="1261872"/>
            <a:ext cx="47548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023360" y="1261872"/>
            <a:ext cx="822960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023360" y="126187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023360" y="171907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937760" y="13350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Criteria: Rating ≥ 4.0  +  Positive Sentiment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37760" y="1609344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marketing spend, expand inventory, prioritise in search, bundle with Fix tier.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023360" y="2286000"/>
            <a:ext cx="47548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023360" y="2286000"/>
            <a:ext cx="822960" cy="9144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023360" y="22860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023360" y="2743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4937760" y="23591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Criteria: Rating 3.0 – 3.9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937760" y="26334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descriptions, address quality feedback, re-evaluate pricing, A/B test positioning.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023360" y="3310128"/>
            <a:ext cx="47548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023360" y="3310128"/>
            <a:ext cx="822960" cy="9144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023360" y="331012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023360" y="376732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4937760" y="338328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Criteria: Rating &lt; 3.0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937760" y="36576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out listings, liquidate inventory, reallocate resources to Scale-tier products.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365760" y="4370832"/>
            <a:ext cx="8412480" cy="3657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65760" y="4370832"/>
            <a:ext cx="64008" cy="365760"/>
          </a:xfrm>
          <a:prstGeom prst="rect">
            <a:avLst/>
          </a:prstGeom>
          <a:solidFill>
            <a:srgbClr val="1A4A8A"/>
          </a:solidFill>
          <a:ln w="12700">
            <a:solidFill>
              <a:srgbClr val="1A4A8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30352" y="437083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45% of products sit in the Fix tier — targeted quality improvement and pricing adjustments could promote many into the Scale category.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200400"/>
            <a:ext cx="2743200" cy="2743200"/>
          </a:xfrm>
          <a:prstGeom prst="ellipse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201168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Recommendations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365760" y="10058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Four-pillar action framework for Nike India's sportswear portfolio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7472" y="1463040"/>
            <a:ext cx="4133088" cy="1609344"/>
          </a:xfrm>
          <a:prstGeom prst="rect">
            <a:avLst/>
          </a:prstGeom>
          <a:solidFill>
            <a:srgbClr val="0D1B3E">
              <a:alpha val="80000"/>
            </a:srgbClr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" y="1463040"/>
            <a:ext cx="4133088" cy="365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4630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Product Strategy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" y="1883664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Scale 42% — high rating + positive sentiment products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84632" y="2267712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Fix mid-tier SKUs via description revisions and pricing tests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84632" y="26517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Drop bottom 13% to protect brand rating and free resources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90872" y="1463040"/>
            <a:ext cx="4133088" cy="1609344"/>
          </a:xfrm>
          <a:prstGeom prst="rect">
            <a:avLst/>
          </a:prstGeom>
          <a:solidFill>
            <a:srgbClr val="0D1B3E">
              <a:alpha val="80000"/>
            </a:srgbClr>
          </a:solidFill>
          <a:ln w="12700">
            <a:solidFill>
              <a:srgbClr val="3B82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90872" y="1463040"/>
            <a:ext cx="4133088" cy="3657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14630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 Pricing Strategy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28032" y="1883664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Avoid premium pricing without clear quality proof points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28032" y="2267712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Mid-premium $50–$90 optimises volume and satisfaction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828032" y="26517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Reduce discounting on Scale products to protect gross margin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47472" y="3218688"/>
            <a:ext cx="4133088" cy="1609344"/>
          </a:xfrm>
          <a:prstGeom prst="rect">
            <a:avLst/>
          </a:prstGeom>
          <a:solidFill>
            <a:srgbClr val="0D1B3E">
              <a:alpha val="80000"/>
            </a:srgbClr>
          </a:solidFill>
          <a:ln w="12700">
            <a:solidFill>
              <a:srgbClr val="F9731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47472" y="3218688"/>
            <a:ext cx="4133088" cy="3657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2186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Customer Strategy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" y="3639312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Amplify comfort, lightweight and breathability messaging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84632" y="40233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Respond to negative reviews on Risk products within 48 hrs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84632" y="4407408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Use sentiment data to guide product description rewrites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690872" y="3218688"/>
            <a:ext cx="4133088" cy="1609344"/>
          </a:xfrm>
          <a:prstGeom prst="rect">
            <a:avLst/>
          </a:prstGeom>
          <a:solidFill>
            <a:srgbClr val="0D1B3E">
              <a:alpha val="80000"/>
            </a:srgbClr>
          </a:solidFill>
          <a:ln w="12700">
            <a:solidFill>
              <a:srgbClr val="8B5C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90872" y="3218688"/>
            <a:ext cx="4133088" cy="3657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32186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🌏  Market Positioning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28032" y="3639312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Invest in Top 5 future products by composite success score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828032" y="40233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Expand training and running — highest-rated categories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28032" y="4407408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Position Nike as performance-first, not premium-price-first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0" y="3474720"/>
            <a:ext cx="2286000" cy="2286000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-457200"/>
            <a:ext cx="1828800" cy="1828800"/>
          </a:xfrm>
          <a:prstGeom prst="ellipse">
            <a:avLst/>
          </a:prstGeom>
          <a:solidFill>
            <a:srgbClr val="F97316">
              <a:alpha val="20000"/>
            </a:srgbClr>
          </a:solidFill>
          <a:ln w="12700">
            <a:solidFill>
              <a:srgbClr val="F97316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201168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&amp; Business Impact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1170432"/>
            <a:ext cx="1965960" cy="804672"/>
          </a:xfrm>
          <a:prstGeom prst="rect">
            <a:avLst/>
          </a:prstGeom>
          <a:solidFill>
            <a:srgbClr val="0D9488">
              <a:alpha val="22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17043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5760" y="162763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0B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Sentiment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514600" y="1170432"/>
            <a:ext cx="1965960" cy="804672"/>
          </a:xfrm>
          <a:prstGeom prst="rect">
            <a:avLst/>
          </a:prstGeom>
          <a:solidFill>
            <a:srgbClr val="0D9488">
              <a:alpha val="22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14600" y="117043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~46%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514600" y="162763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0B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Nike Price Premium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663440" y="1170432"/>
            <a:ext cx="1965960" cy="804672"/>
          </a:xfrm>
          <a:prstGeom prst="rect">
            <a:avLst/>
          </a:prstGeom>
          <a:solidFill>
            <a:srgbClr val="0D9488">
              <a:alpha val="22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17043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r=0.42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63440" y="162763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0B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Rating–Review Corr.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812280" y="1170432"/>
            <a:ext cx="1965960" cy="804672"/>
          </a:xfrm>
          <a:prstGeom prst="rect">
            <a:avLst/>
          </a:prstGeom>
          <a:solidFill>
            <a:srgbClr val="0D9488">
              <a:alpha val="22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117043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812280" y="162763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0B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Scale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65760" y="21762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760" y="24871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Premium pricing alone does not drive satisfaction (r ≈ 0.08).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65760" y="285292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Comfort, lightweight &amp; breathability are the top purchase drivers.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65760" y="32186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42% of products qualify for Scale — a strong growth foundation.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65760" y="358444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Top 5 future products identified via composite success scoring.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09160" y="21762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09160" y="24871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Integrate live review text for richer NLP insights.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709160" y="285292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Expand to Puma, Reebok and emerging Indian brands.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709160" y="32186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Build real-time dashboard with dynamic success scoring.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709160" y="358444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Apply ML classification for automated Scale/Fix/Drop tagging.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5760" y="4114800"/>
            <a:ext cx="8412480" cy="658368"/>
          </a:xfrm>
          <a:prstGeom prst="rect">
            <a:avLst/>
          </a:prstGeom>
          <a:solidFill>
            <a:srgbClr val="0D1B3E">
              <a:alpha val="70000"/>
            </a:srgbClr>
          </a:solidFill>
          <a:ln w="10160">
            <a:solidFill>
              <a:srgbClr val="F9731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4114800"/>
            <a:ext cx="8229600" cy="658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CD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Limitation: Sentiment analysis is derived from product descriptions rather than raw customer reviews. This is clearly acknowledged — the business reasoning and strategic conclusions remain fully valid.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6576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E1D7A4A-A75F-A777-2138-1703EFAAF7C9}"/>
              </a:ext>
            </a:extLst>
          </p:cNvPr>
          <p:cNvSpPr txBox="1"/>
          <p:nvPr/>
        </p:nvSpPr>
        <p:spPr>
          <a:xfrm>
            <a:off x="562708" y="2390725"/>
            <a:ext cx="80185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GitHub Repository: </a:t>
            </a:r>
            <a:r>
              <a:rPr lang="en-IN" dirty="0">
                <a:hlinkClick r:id="rId2"/>
              </a:rPr>
              <a:t>https://github.com/SubashR47/Sportswear-Market-Analytics.git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67275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1035</Words>
  <Application>Microsoft Office PowerPoint</Application>
  <PresentationFormat>On-screen Show (16:9)</PresentationFormat>
  <Paragraphs>166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Decoding Consumer Trends &amp; Product Strategy in India's Sportswear Market</dc:title>
  <dc:subject>PptxGenJS Presentation</dc:subject>
  <dc:creator>PptxGenJS</dc:creator>
  <cp:lastModifiedBy>Subash R</cp:lastModifiedBy>
  <cp:revision>3</cp:revision>
  <dcterms:created xsi:type="dcterms:W3CDTF">2026-05-16T10:46:10Z</dcterms:created>
  <dcterms:modified xsi:type="dcterms:W3CDTF">2026-05-16T11:29:09Z</dcterms:modified>
</cp:coreProperties>
</file>